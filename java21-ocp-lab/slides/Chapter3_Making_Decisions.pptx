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166"/>
                </a:solidFill>
                <a:latin typeface="Segoe UI"/>
              </a:rPr>
              <a:t>OCP Java SE 21 Developer (1Z0-830)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D166"/>
                </a:solidFill>
                <a:latin typeface="Segoe UI"/>
              </a:rPr>
              <a:t>Making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  <a:latin typeface="Segoe UI"/>
              </a:rPr>
              <a:t>Control Flow • Pattern Matching • switch • Loops • Branching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6D6A0"/>
                </a:solidFill>
                <a:latin typeface="Segoe UI"/>
              </a:rPr>
              <a:t>Exam Objectives Covered: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CCCCCC"/>
                </a:solidFill>
                <a:latin typeface="Segoe UI"/>
              </a:rPr>
              <a:t>✔  Create program flow control constructs including if/else, switch statements and expressions,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CCCCCC"/>
                </a:solidFill>
                <a:latin typeface="Segoe UI"/>
              </a:rPr>
              <a:t>    loops, and break and continue statements.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CCCCCC"/>
                </a:solidFill>
                <a:latin typeface="Segoe UI"/>
              </a:rPr>
              <a:t>✔  Implement polymorphism; perform reference type casting; identify object types using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CCCCCC"/>
                </a:solidFill>
                <a:latin typeface="Segoe UI"/>
              </a:rPr>
              <a:t>    instanceof and pattern matching with the instanceof operator and the switch construct.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Boyarsky &amp; Selikoff — OCP Java SE 21 Study Guide (Wiley,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Chapter 3 — Topics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521208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457200" cy="9601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698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96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Statements &amp;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075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Program units and grouping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21208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457200" cy="9601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933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The if / else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04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Conditional branching + exam traps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521208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017520"/>
            <a:ext cx="457200" cy="9601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644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90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Pattern Matching with 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021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instanceof, flow scoping, guard clauses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521208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457200" cy="9601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616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879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switch Statements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994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Syntax, fall-through, break, supported types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12080"/>
            <a:ext cx="521208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212080"/>
            <a:ext cx="457200" cy="9601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4589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852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switch Expressions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967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Arrow operator, yield, consistent types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822960"/>
            <a:ext cx="521208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822960"/>
            <a:ext cx="457200" cy="9601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10698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896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Pattern Matching with switch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3075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Java 21 feature: guards, ordering, exhaustiveness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1920240"/>
            <a:ext cx="521208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1920240"/>
            <a:ext cx="457200" cy="9601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21671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egoe U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9933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while / do-while Loops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404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Termination conditions, infinite loops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3017520"/>
            <a:ext cx="521208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2160" y="3017520"/>
            <a:ext cx="457200" cy="9601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32644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egoe U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090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for / for-each Loops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5021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Basic for loop, enhanced for-each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4114800"/>
            <a:ext cx="521208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2160" y="4114800"/>
            <a:ext cx="457200" cy="96012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43616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  <a:latin typeface="Segoe U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1879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Branching: break, continue, return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5994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Labels, nested loops, unreachable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166"/>
                </a:solidFill>
                <a:latin typeface="Segoe UI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Statements &amp;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Segoe UI"/>
              </a:rPr>
              <a:t>The building blocks of control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Statements and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 Java statement is a complete unit of execution terminated with a semicolon (;).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 block is a group of zero or more statements enclosed in balanced braces { }.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Blocks can be used anywhere a single statement is allowed.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Adding braces {} around a single statement does NOT change its behavior.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Control flow statements use statements/blocks as their target: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Decision-making: if, else, switch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Looping: while, do-while, for, for-each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Branching: break, continue, return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Style tip: Always prefer blocks over single-statement targets for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readability and to avoid accidental bugs when adding new 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Java — Statement vs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Single statement (no braces)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patrons++;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Block of statements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patrons++;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if with single statement target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(ticketsTaken &gt; 1)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patrons++;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if with block target (preferred)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(ticketsTaken &gt; 1)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patrons++;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05840" cy="7772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Segoe UI"/>
              </a:rPr>
              <a:t>EXAM TRAP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161288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Indentation is MEANINGLESS in Java. The compiler ignores whitespace/tabs.
   if (hourOfDay &lt; 11)
       System.out.println("Good Morning");
       morningGreetingCount++;   // ← ALWAYS executes, NOT part of the if!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When a question shows an if statement without braces, trace the braces carefully—
   do not trust the indentation.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📝  Exam-Style 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Q1: What is the output of the following?
    int x = 5;
    if (x &gt; 3)
        System.out.print("A");
        System.out.print("B");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AB — 'B' always executes because it's NOT inside the if block (no braces).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Q2: How many statements are in the following block?  { }
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Zero — a block can contain zero or more statements.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166"/>
                </a:solidFill>
                <a:latin typeface="Segoe UI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The if / else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Segoe UI"/>
              </a:rPr>
              <a:t>Conditional branching — the most fundamental decision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The if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Syntax:  if (booleanExpression) { statement(s) 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Executes the body ONLY when the boolean expression is true.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The condition MUST be a boolean expression — not an int, String, etc.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if (hourOfDay &lt; 11) { System.out.println("Good Morning"); 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Booleans only — Java does NOT treat 0 as false or 1 as true: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int x = 1;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(x) { } // DOES NOT COMPILE — x is int, not boolean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if Statement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hourOfDay = 9;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Correct usage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(hourOfDay &lt; 11)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System.out.println("Good Morning");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morningGreetingCount++;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hourOfDay = 1;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(hourOfDay) {  // ← must be boolean!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System.out.println("Bad code");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The else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Provides an alternative path when the if condition is false.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Syntax:  if (condition) { ... } else { ... 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Can be chained with else if for multiple branches: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(hourOfDay &lt; 11)       { /* morning */  }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else if (hourOfDay &lt; 15)  { /* afternoon */ }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else                      { /* evening */   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Only ONE branch executes — the first one whose condition is true.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The else clause is optional.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The final else (with no condition) acts as a catch-all.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if / else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hourOfDay = 14;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(hourOfDay &lt; 11)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System.out.println("Good Morning");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 else if (hourOfDay &lt; 15)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System.out.println("Good Afternoon");  // prints this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 else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System.out.println("Good Evening");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else with single statement (no braces)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(hourOfDay &lt; 11)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System.out.println("Good Morning");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 else System.out.println("Good Afternoon");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05840" cy="7772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Segoe UI"/>
              </a:rPr>
              <a:t>EXAM TRAP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161288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An if statement's condition MUST evaluate to a boolean.
   int x = 5; if (x) { }  ← DOES NOT COMPILE (not valid like C/C++)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Without braces, only the IMMEDIATELY next statement is part of the if.
   if (cond)         All three lines look like they're in the if, but only
       a++;          the first is. The second always runs.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Dangling else: An else always pairs with the NEAREST preceding if,
   regardless of indentation.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📝  Exam-Style 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Q1: What is the output?
    int temperature = 4;
    long humidity = -temperature + temperature * 3;  // = 8
    if (temperature &gt;= 4)
        if (humidity &lt; 6) System.out.println("Too Low");
        else System.out.println("Just Right");
    else System.out.println("Too High");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Just Right — humidity = 8 (not &lt; 6), so the inner else fires.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Q2: Does the following compile?
    int h = 1;
    if (h) { System.out.println("hi"); }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No — DOES NOT COMPILE. h is int, not boolean.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Q3: What prints?
    int x = 10;
    if (x &gt; 5)
        System.out.print("A");
    else
        System.out.print("B");
        System.out.print("C");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AC — 'A' prints (condition true), 'C' ALWAYS prints (not in else block).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166"/>
                </a:solidFill>
                <a:latin typeface="Segoe U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Pattern Matching with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Segoe UI"/>
              </a:rPr>
              <a:t>instanceof + type pattern • Flow scoping • Guard clauses (Java 16+/21)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Pattern Matching — The Problem &amp;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Problem: Old boilerplate for instanceof + cast: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(number instanceof Integer) {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Integer data = (Integer) number;  // explicit cast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System.out.print(data.compareTo(5));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Solution (Java 16+): Pattern variable directly in instanceof: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(number instanceof Integer data) {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System.out.print(data.compareTo(5));  // no explicit cast!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The pattern variable 'data' is automatically cast AND in scope inside the if.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Also avoids ClassCastException — cast only happens if instanceof is true.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null is NEVER an instance of any type — instanceof always returns false for null.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Pattern Matching with instanceof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Old way (boilerplate)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compareIntegers(Number number)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if (number instanceof Integer)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Integer data = (Integer) number;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System.out.print(data.compareTo(5));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New way (pattern matching)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compareIntegers(Number number)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if (number instanceof Integer data)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System.out.print(data.compareTo(5));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With null — none of these print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String s = null;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(s instanceof String)    System.out.println("No");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(s instanceof String x)  System.out.println("No");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Pattern Variables, Guards &amp; Supported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Pattern variable can be declared final to prevent reassignment: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(number instanceof final Integer data) { data = 10; // DOES NOT COMPILE 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Guard clause — optional conditional after the pattern variable (use &amp;&amp;):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(number instanceof Integer data &amp;&amp; data.compareTo(5) &gt; 0)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System.out.print(data);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Supported types: compatible type (same, subtype, or supertype).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Number bearHeight = Integer.valueOf(123);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(bearHeight instanceof Integer i)  {}  // OK - subtype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(bearHeight instanceof Number n)   {}  // OK - same type (Java 21+)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(bearHeight instanceof String s)   {}  // DOES NOT COMPILE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(bearHeight instanceof Object o)   {}  // OK - supertype (always true)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Java 21 change: same type or broader types are now allowed (previously only strict subtypes).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Guards &amp; Type Compatibility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Number bearHeight = Integer.valueOf(123);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OK — Integer is a subtype of Number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(bearHeight instanceof Integer i) {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OK — same type (allowed in Java 21+)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(bearHeight instanceof Number n) {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DOES NOT COMPILE — String unrelated to Number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(bearHeight instanceof String s) {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Guard clause with &amp;&amp;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printBig(Number n)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if (n instanceof Integer data &amp;&amp; data &gt; 100)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System.out.print(data);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final pattern variable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if (number instanceof final Integer data)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data = 10; //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Flow Scoping — Critical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Flow scoping: a pattern variable is in scope only where the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compiler can DEFINITIVELY determine its type.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With &amp;&amp; (AND): BOTH sides must be true → variable is in scope on right side.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(n instanceof Integer data &amp;&amp; data &gt; 5)  // OK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With || (OR): left side may be false → variable NOT guaranteed in scope on right.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(n instanceof Integer data || data &gt; 5)  // DOES NOT COMPILE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After the if block: variable is out of scope normally...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BUT if an early return prevents reaching the next line, variable IS in scope: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void printOnlyIntegers(Number n) {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(!(n instanceof Integer data)) return;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System.out.print(data.intValue());  // OK — data guaranteed in scope!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Flow Scoping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DOES NOT COMPILE — || can't guarantee type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bad(Number number)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if (number instanceof Integer data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    || data.compareTo(5) &gt; 0)  // ERROR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System.out.print(data);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DOES NOT COMPILE — data out of scope after if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bad2(Number number)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if (number instanceof Integer data)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System.out.print(data.intValue());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System.out.print(data.intValue()); // ERROR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COMPILES — early return guarantees Integer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good(Number number)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if (!(number instanceof Integer data))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return;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System.out.print(data.intValue()); // OK!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05840" cy="7772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Segoe UI"/>
              </a:rPr>
              <a:t>EXAM TRAP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161288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Pattern variable scope is NOT simply 'inside the if block'. It follows FLOW SCOPING.
   if (!(n instanceof Integer data)) return;
   data.intValue();  // ← This IS in scope! Compiler knows it's Integer here.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Using || with pattern matching DOES NOT COMPILE — the type can't be guaranteed
   on the right side of ||.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null instanceof AnyType is ALWAYS false — pattern matching protects from NullPointerException.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final modifier on pattern variable prevents reassignment — but it's also just good practice
   to never reassign pattern variables.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📝  Exam-Style 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Q1: Does the following compile?
    void test(Number n) {
        if (n instanceof Integer data || data &gt; 5)
            System.out.print(data);
    }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No — DOES NOT COMPILE. '||' can't guarantee 'data' is Integer on the right side.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Q2: Does the following compile?
    void test(Number n) {
        if (!(n instanceof Integer data)) return;
        System.out.print(data.intValue());
    }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Yes — compiles. After the early return, the compiler knows 'data' is Integer.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Q3: What does 'flow scoping' mean?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The pattern variable is only in scope where the compiler can definitively determine its type,
    based on the control flow — not just lexical scope.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166"/>
                </a:solidFill>
                <a:latin typeface="Segoe UI"/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switch 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Segoe UI"/>
              </a:rPr>
              <a:t>Multi-way branching • Fall-through • Supported types • Case rules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Introducing switch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switch evaluates a single variable and redirects flow to a matching case.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Two flavors: switch STATEMENT (no return) and switch EXPRESSION (returns value).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Supported switch variable types: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int / Integer,  byte / Byte,  short / Short,  char / Character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String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enum values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All object types (with pattern matching — Java 21)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var (if resolves to one of the above)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NOT supported: boolean, long, float, double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Each case clause: comma-separated values, then : or -&gt;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Optional default clause handles unmatched values.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switch Statement vs 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switch STATEMENT (colon syntax)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String getAnimal(int type)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String animal;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switch (type)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0: animal = "Lion";     break;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1: animal = "Elephant"; break;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2, 3: animal = "Alligator"; break;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default: animal = "Unknown";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return animal;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switch EXPRESSION (arrow syntax — much cleaner!)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String getAnimal(int type)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return switch (type)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0    -&gt; "Lion";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1    -&gt; "Elephant";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2, 3 -&gt; "Alligator";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default   -&gt; "Unknown";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switch — Acceptable Case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Case values must be COMPILE-TIME CONSTANTS: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Literals:  case 5:   case 'A':   case "Cat":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Enum constants:  case Season.FALL: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final variables initialized with a literal:  final int X = 3; case X: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NOT allowed as case values: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Non-final variables (even if effectively constant)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Method return values (even if the method always returns the same value)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final variables initialized from a method call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Case value type must match the switch variable type.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switch (int var) { case "abc" -&gt; ... }  // DOES NOT COMPILE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Enum case clauses: can omit enum name in Java &lt; 21;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Java 21+ allows Season.SPRING as well as just SPRING.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Case Value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final int getCookies() { return 4;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feedAnimals()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final int bananas = 1;    // OK — final + literal init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int apples = 2;           // NOT final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final int cookies = getCookies(); // final but method call!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switch (3)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bananas:          // OK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apples:           // DOES NOT COMPILE (not final)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getCookies():     // DOES NOT COMPILE (method call)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cookies:          // DOES NOT COMPILE (method init)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3 * 5:            // OK — compile-time expression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Type mismatch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switch (42) {        // int switch variable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"hello" -&gt; ...; //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switch Statement — Fall-Through &amp; break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Without break, execution FALLS THROUGH to the next case — even to default!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The order of case/default clauses matters in switch statements.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break terminates the switch immediately; default is just another target.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If printSeasonForMonth(2) is called on the code without breaks: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→ Output: Winter-Spring-Unknown-Summer-Fall-  (ALL cases execute!)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switch expression with -&gt; does NOT fall through — only one branch runs.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Arrow operator must be used consistently — cannot mix : and -&gt; in one switch.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0 : ...  case 1 -&gt; ...  // DOES NOT COMPILE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Empty switch is valid:  switch (month) {}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Fall-Through 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WITHOUT break — FALL-THROUGH!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printSeason(int month)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switch (month)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1, 2, 3: System.out.print("Winter-");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4, 5, 6: System.out.print("Spring-");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default:       System.out.print("Unknown-");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7, 8, 9: System.out.print("Summer-");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10,11,12: System.out.print("Fall-");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printSeason(2) → "Winter-Spring-Unknown-Summer-Fall-"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WITH break — correct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switch (month)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1,2,3: System.out.print("Winter-"); break;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4,5,6: System.out.print("Spring-"); break;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default:    System.out.print("Unknown-"); break;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7,8,9: System.out.print("Summer-"); break;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10,11,12: System.out.print("Fall-"); break;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05840" cy="7772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Segoe UI"/>
              </a:rPr>
              <a:t>EXAM TRAP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161288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switch statements WITHOUT break FALL THROUGH all subsequent cases,
   including default — even if default is not at the end!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switch expression with arrow (-&gt;) does NOT fall through — only ONE branch executes.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boolean, long, float, double are NOT valid switch variable types.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Cannot mix colon (:) and arrow (-&gt;) operators in the same switch.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Case values must be compile-time constants — method calls, non-final variables are NOT allowed.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Type mismatch between case value and switch variable → DOES NOT COMPILE.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📝  Exam-Style 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Q1: What does printSeasonForMonth(2) print?
    case 1,2,3: print("Winter-");
    case 4,5,6: print("Spring-");
    default:    print("Unknown-");
    case 7,8,9: print("Summer-");
    case 10,11,12: print("Fall-");
    (no break statements)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Winter-Spring-Unknown-Summer-Fall- (falls through ALL cases including default)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Q2: Which types can be used as a switch variable? (Choose all that apply)
    A. int   B. boolean   C. String   D. double   E. char   F. long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A (int), C (String), E (char) — boolean, double, long are NOT allowed.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Q3: Does this compile?
    int apples = 5;
    switch (apples) { case apples: break; }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No — 'apples' is not final, so it cannot be a case value.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166"/>
                </a:solidFill>
                <a:latin typeface="Segoe UI"/>
              </a:rPr>
              <a:t>Section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switch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Segoe UI"/>
              </a:rPr>
              <a:t>Arrow operator • yield • Consistent types • Exhaustiveness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switch Expressions — Key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 switch EXPRESSION must return a value; a switch STATEMENT does not.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Arrow (-&gt;) syntax is typical for switch expressions.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switch expression requires semicolons in specific places: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After each case expression (value after -&gt;):   case 5 -&gt; "Hi";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After the closing }; when assigning:  var x = switch(y) { ... };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Semicolons are PROHIBITED after case blocks { 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 case expression → value requires semicolon.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 case block → { ... } does NOT have a trailing semicolon.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switch expression must return CONSISTENT data types: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All branches must return a type compatible with the target variable.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Cannot mix String and int across branches when assigning to int.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If all branches return void (e.g., System.out.print), it's a switch STATEMENT.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switch Expression Syntax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Correct switch expression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bear = 30;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var result = switch (bear)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30 -&gt; "Grizzly";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default -&gt; "Panda";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};  // ← semicolon required here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Missing semicolons —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var result = switch (bear)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30 -&gt; "Grizzly"   // missing 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default -&gt; "Panda"     // missing 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  // missing 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Inconsistent return types —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size = switch (10)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5  -&gt; Integer.valueOf(1); // OK (unboxed)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20 -&gt; "four";            //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default -&gt; 3;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yield Statement &amp; Exhaustiveness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yield is used inside a case BLOCK to return a value from a switch expression.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Think of yield as 'return' within a switch expression.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 case block that does NOT throw an exception MUST contain a yield.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switch expression must be EXHAUSTIVE — must handle ALL possible values: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Option 1: Add a default clause (most common).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Option 2: Cover all enum values explicitly (for enum switch variable).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Option 3: Cover all possible types with pattern matching.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switch statement is NOT required to be exhaustive (unless using pattern matching).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Best practice: Add default even when all enum values are covered,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so adding a new enum value later doesn't break compilation.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yield &amp; Exhaustiveness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yield in a case block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fish = 3;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length = 12;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var name = switch (fish)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1 -&gt; "Goldfish";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2 -&gt; { yield "Trout"; }   // case block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3 -&gt;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if (length &gt; 10) yield "Blobfish";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else yield "Green";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4 -&gt;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throw new RuntimeException(); // no yield needed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default -&gt; "Swordfish";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Not exhaustive —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enum Season { SPRING, SUMMER, FALL, WINTER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String result = switch (season)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WINTER -&gt; "Cold";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SPRING -&gt; "Rainy";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SUMMER -&gt; "Hot";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// FALL not covered →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05840" cy="7772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Segoe UI"/>
              </a:rPr>
              <a:t>EXAM TRAP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161288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yield is ONLY used inside switch expression case blocks — not in switch statements.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Semicolon after case expression required; semicolon after case block PROHIBITED:
   case 1 -&gt; "A";    // OK
   case 2 -&gt; { yield "B"; };  // DOES NOT COMPILE — extra semicolon after block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switch expression without default that doesn't cover all enum values → DOES NOT COMPILE.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Missing semicolons in a switch expression is a VERY common exam trap:
   var x = switch(y) { case 1 -&gt; "A" }  ← missing TWO semicolons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If System.out.print() is on the right side of -&gt;, there is NO return value →
   it's a switch STATEMENT, not expression, even with arrow syntax.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📝  Exam-Style 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Q1: How many semicolons are missing?
    var result = switch (bear) {
        case 30 -&gt; "Grizzly"
        default -&gt; "Panda"
    }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Three — one after each case expression and one after the closing brace.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Q2: Does the following compile?
    enum Season { SPRING, SUMMER, FALL, WINTER }
    String s = switch (season) {
        case WINTER -&gt; "Cold";
        case SPRING -&gt; "Rainy";
        case SUMMER -&gt; "Hot";
    };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No — FALL is not covered and there's no default. Not exhaustive → DOES NOT COMPILE.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Q3: What is the purpose of yield?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yield returns a value from inside a case BLOCK in a switch expression (like return for switch).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166"/>
                </a:solidFill>
                <a:latin typeface="Segoe UI"/>
              </a:rPr>
              <a:t>Section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Pattern Matching with 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Segoe UI"/>
              </a:rPr>
              <a:t>Java 21 feature • Guards (when) • Ordering • null case • Exhaustiveness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Pattern Matching with switch —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Java 21: Any object reference type can be a switch variable with pattern matching.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Each case defines a type and a pattern variable: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Integer i -&gt; "Rounded: " + i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Double  d -&gt; "Precise: " + d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Guard clause: add 'when' after the pattern variable for conditional filtering: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Integer i when i &gt; 10 -&gt; "Big Integer"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Integer i             -&gt; "Small Integer"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Guards enable RANGE MATCHING — something switch could never do before!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Acceptable types: the case type must be the same type as or a subtype of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the switch variable. Unrelated types → DOES NOT COMPILE.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Number fish; case String s -&gt; ...  // DOES NOT COMPILE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Pattern Matching with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Pattern matching switch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printDetails(Number height)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String msg = switch (height)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Integer i -&gt; "Rounded: " + i;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Double  d -&gt; "Precise: " + d;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Number  n -&gt; "Unknown: " + n;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System.out.print(msg);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Guard clauses (when keyword)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String getTrainer(Number height)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return switch (height)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Integer i when i &gt; 10 -&gt; "Joseph";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Integer i             -&gt; "Daniel";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Double  d when d&lt;=15.5 -&gt; "Peter";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Double  d             -&gt; "Kelly";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Number  n             -&gt; "Ralph";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Ordering, Exhaustiveness &amp; null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ORDER MATTERS when using pattern matching — more specific cases FIRST.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Number n first would 'dominate' Integer i → DOES NOT COMPILE.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 dominated branch (unreachable code) causes a COMPILER ERROR.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Integer i when i &gt; 10 -&gt; X;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Integer i             -&gt; Y;  // OK (more specific first)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── reversed ──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Integer i             -&gt; Y;  // dominates next line!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Integer i when i &gt; 10 -&gt; Z;  // DOES NOT COMPILE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Exhaustive switch (patterns): covers all subtypes or uses default.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case null: Java 21 — allows handling null values directly in switch.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case null → "No fish"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null after default → DOES NOT COMPILE (default dominates null).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Using case null makes the switch use pattern matching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Ordering &amp; null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Ordering matters —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bad(Number height)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String msg = switch (height)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Number  n -&gt; "Unknown";  // dominates below!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Integer i -&gt; "Rounded";  //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case Double  d -&gt; "Precise";  //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Handling null (Java 21)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String fish = null;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System.out.print(switch (fish)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"ClownFish" -&gt; "Hello!";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"BlueTang"  -&gt; "Hello again!";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case null        -&gt; "What fish?";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default          -&gt; "Goodbye";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case null CANNOT come after default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05840" cy="7772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Segoe UI"/>
              </a:rPr>
              <a:t>EXAM TRAP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161288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With pattern matching, order of switch branches ALWAYS matters — both for
   switch statements AND expressions. More specific types MUST come first.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case null triggers pattern matching rules — the switch must be exhaustive.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case null CANNOT appear after a default clause (default dominates null).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Mixing a case Number and default in the same switch → DOES NOT COMPILE
   because they dominate each other.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When using pattern matching, switch STATEMENTS must also be exhaustive.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Guard (when) clause — the when keyword is REQUIRED in switch (unlike &amp;&amp; in if).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📝  Exam-Style 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Q1: Does the following compile?
    void printDetails(Number h) {
        String msg = switch (h) {
            case Number  n -&gt; "Unknown";
            case Integer i -&gt; "Rounded";
        };
    }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No — 'case Number n' dominates 'case Integer i'. DOES NOT COMPILE.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Q2: What is a guard clause in a switch?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An optional 'when' condition added after the pattern variable:
    case Integer i when i &gt; 10 -&gt; ...   Only matches if both conditions are true.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Q3: Which is the correct ordering for pattern matching switch branches?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Most specific (subtypes / guarded) first, least specific (supertypes / default) last.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166"/>
                </a:solidFill>
                <a:latin typeface="Segoe UI"/>
              </a:rPr>
              <a:t>Section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while &amp; do-while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Segoe UI"/>
              </a:rPr>
              <a:t>Termination conditions • Guaranteed first execution • Infinite loops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The while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Syntax: while (booleanExpression) { statement(s) }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Checks the condition BEFORE each iteration.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The body may execute ZERO times if the condition is false initially.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Loop variable must change each iteration — otherwise infinite loop!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int counter = 0;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while (counter &lt; 10) {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double price = counter * 10;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System.out.println(price);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counter++;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Use while when: 'execute zero or more times based on a condition'.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int full = 5; while (full &lt; 5) { ... }  → prints ZERO times (5 is not &lt; 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while Loop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Basic while loop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counter = 0;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while (counter &lt; 10)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System.out.println(counter * 10);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counter++;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May never execute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full = 5;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while (full &lt; 5)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System.out.println("Not full!");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full++;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Prints nothing — condition false from start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Mouse eating example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roomInBelly = 5;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eatCheese(int bites)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while (bites &gt; 0 &amp;&amp; roomInBelly &gt; 0)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bites--;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roomInBelly--;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The do-while Statement &amp; Infinite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Syntax: do { statement(s) } while (booleanExpression);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Executes the body AT LEAST ONCE — condition checked AFTER the body.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The semicolon after while(...) is REQUIRED.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int lizard = 0;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do { lizard++; } while (false);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System.out.println(lizard);  // prints 1 — body ran once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Infinite Loop: loop whose termination condition is never reached.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int pen = 2; int pigs = 5;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while (pen &lt; 10) pigs++;  // pen never changes → infinite!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To avoid infinite loops: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Make sure the loop variable changes each iteration.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Ensure the condition will eventually evaluate to false.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The loop body or variables must move in a consistent direction.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do-while &amp; Infinite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do-while — always executes at least once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lizard = 0;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do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lizard++;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 while (false);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System.out.println(lizard); // prints 1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Compared to while — may never execute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frog = 0;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while (false)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frog++;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System.out.println(frog); // prints 0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Infinite loop — pen never changes!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pen = 2;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while (pen &lt; 10)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// pen not modified → runs forever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Practical do-while — read until valid input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Scanner sc = new Scanner(System.in);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input;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do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input = sc.nextInt();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 while (input &lt; 0);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05840" cy="7772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Segoe UI"/>
              </a:rPr>
              <a:t>EXAM TRAP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161288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do-while ALWAYS executes the body at least once — even if condition is false initially.
   do { x++; } while(false); → x gets incremented ONCE.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while may execute ZERO times if condition is false initially.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Infinite loop: if the loop variable is never updated, the loop never terminates.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The semicolon at the end of do { } while (condition); is REQUIRED.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Watch for loops where the variable changes in the WRONG direction and never reaches
   the termination condition.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📝  Exam-Style 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Q1: How many times is 'Not full!' printed?
    int full = 5;
    while (full &lt; 5) {
        System.out.println("Not full!");
        full++;
    }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Zero — condition (full &lt; 5) is false from the start.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Q2: What is the output?
    int lizard = 0;
    do {
        lizard++;
    } while (false);
    System.out.println(lizard);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1 — do-while always executes the body at least once.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Q3: What is an infinite loop and how can you prevent it?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A loop whose termination condition is never reached. Prevent it by ensuring the
    loop variable changes each iteration in a direction that eventually satisfies the exit condition.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166"/>
                </a:solidFill>
                <a:latin typeface="Segoe UI"/>
              </a:rPr>
              <a:t>Section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for &amp; for-each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Segoe UI"/>
              </a:rPr>
              <a:t>Initialization • Termination • Update • Enhanced for-each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The for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Syntax: for (initialization; termination; update) { body }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Three sections separated by semicolons — each is optional (but semicolons required).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Execution order: init → check condition → body → update → check → body ...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Variables declared in the initialization block are scoped to the loop: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(int i = 0; i &lt; 10; i++) { ... }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System.out.println(i);  // DOES NOT COMPILE — i out of scope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Variables declared BEFORE the loop can be used after: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int i;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(i = 0; i &lt; 10; i++) { ... }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System.out.println(i);  // OK — prints 10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Multiple variables in initialization/update (must be same type in init).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for(;;) is an infinite loop — valid, compiles and runs.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for Loop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Basic for loop — prints 0 1 2 3 4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(int i = 0; i &lt; 5; i++)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System.out.print(i + " 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Reverse — prints 4 3 2 1 0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(int i = 4; i &gt;= 0; i--)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System.out.print(i + " 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Variable scope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(int i = 0; i &lt; 10; i++)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System.out.println(i);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System.out.println(i); //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Multiple vars (same type)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(long y = 0, z = 4; y &lt; 10; y++)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System.out.print(y + " 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Infinite for loop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 ; ; 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System.out.println("Hello World!");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for Loop — Edge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Redeclaring a loop variable that already exists → DOES NOT COMPILE: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int x = 0;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(int x = 4; x &lt; 5; x++) { }  // DOES NOT COMPILE — duplicate x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Fix: for ( ; x &lt; 5; x++) { 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Multiple initialization variables must be the SAME type: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(long y = 0, int z = 4; ...) // DOES NOT COMPILE — mixed types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(long y = 0, z = 4; ...)     // OK — both long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Modifying loop variable inside body is legal but BAD practice: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(int i = 0; i &lt; 10; i++) { i = 0; }  // infinite loop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(int j = 1; j &lt; 10; j++) { j++; }    // only 5 iterations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All three sections of a for loop are optional: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 ; ; ) is valid — infinite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for Loop Edge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DOES NOT COMPILE — redeclaring x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x = 0;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(int x = 4; x &lt; 5; x++)  // ERROR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System.out.print(x);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DOES NOT COMPILE — mixed types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(long y = 0, int z = 4; y &lt; 5; y++)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System.out.print(y);  // ERROR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OK — same type (long)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(long y = 0, z = 4; y &lt; 5; y++)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System.out.print(y);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Modifying loop variable — bad practice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(int i = 0; i &lt; 10; i++)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 = 0;  // infinite loop!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Loop variable used after — OK (declared before)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i;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(i = 0; i &lt; 5; i++) {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System.out.println(i);  // prints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The for-each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Syntax: for (Type var : arrayOrIterable) { body }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Iterates over arrays and Iterable collections (List, Set, etc.).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No index variable needed — cleaner and less error-prone.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Right side must be: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A built-in Java array, OR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An object implementing java.lang.Iterable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Map does NOT implement Iterable — cannot use directly in for-each.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Left side variable type must be compatible with the array/collection element type.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String[] sloths = new String[3];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(int sloth : sloths) { }  // DOES NOT COMPILE — int vs String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String is NOT an array/Iterable: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(String bird : "Jay") { }  // DOES NOT COMPILE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for-each Loop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Traditional for loop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printNames(String[] names)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for (int i = 0; i &lt; names.length; i++)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System.out.println(names[i]);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for-each — much cleaner!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printNames(String[] names)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for (var name : names)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System.out.println(name);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for-each with List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void printNames(List&lt;String&gt; names)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for (var name : names)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System.out.println(name);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DOES NOT COMPILE — String is not Iterable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String birds = "Jay";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(String bird : birds) // ERROR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System.out.print(bird);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DOES NOT COMPILE — type mismatch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String[] sloths = new String[3];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(int sloth : sloths) // ERROR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System.out.print(sloth);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05840" cy="7772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Segoe UI"/>
              </a:rPr>
              <a:t>EXAM TRAP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161288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Variables declared in the for loop initialization block are scoped to the loop ONLY.
   Accessing them after the loop → DOES NOT COMPILE.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All initialization variables must be the SAME type in a for loop.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Redeclaring a variable with the same name as an outer variable in the init block → DOES NOT COMPILE.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for ( ; ; ) is valid — it's an infinite loop. The semicolons are REQUIRED even if sections are empty.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for-each requires an array or Iterable on the right side — String is NOT Iterable.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The element type on the left must match the array/collection element type.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Map does NOT implement Iterable — you cannot use a Map directly in a for-each loop.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📝  Exam-Style 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Q1: Does the following compile?
    for (int i = 0; i &lt; 5; i++)
        System.out.println(i);
    System.out.println(i);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No — 'i' is out of scope after the for loop.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Q2: Does this compile?
    String birds = "Jay";
    for (String bird : birds)
        System.out.print(bird);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No — String is not an array or Iterable.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Q3: What prints?
    for (int j = 1; j &lt; 10; j++)
        j++;
    System.out.println(j);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DOES NOT COMPILE — j is out of scope. If declared before: prints 10 (only 5 iterations).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166"/>
                </a:solidFill>
                <a:latin typeface="Segoe UI"/>
              </a:rPr>
              <a:t>Section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Branching: break, continue &amp; 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Segoe UI"/>
              </a:rPr>
              <a:t>Labels • Nested loops • Unreachable code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Nested Loops &amp;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 nested loop is a loop containing another loop (any type).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Useful for iterating over multi-dimensional structures.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Labels: optional pointer to a statement, followed by a colon (:).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OUTER_LOOP: for (...) {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INNER_LOOP: for (...) { ... }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Labels follow the same formatting rules as identifiers.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Common convention: SNAKE_CASE_UPPERCASE for label names.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Labels are used with break and continue to control WHICH loop to target.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Without a label, break/continue affect the NEAREST enclosing loop.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With a label, break/continue can target an outer loop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Nested Loops &amp;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int[][] myArray = {{5,2,1,3},{3,9,8,9},{5,7,12,7}};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Without labels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(int[] row : myArray)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for (int i = 0; i &lt; row.length; i++)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System.out.print(row[i] + "	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With labels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OUTER_LOOP: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(int[] row : myArray)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INNER_LOOP: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for (int i = 0; i &lt; row.length; i++)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System.out.print(row[i] + "	");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System.out.println();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The break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break without a label: exits the NEAREST enclosing loop or switch.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break with a label: exits the labeled loop/switch directly.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Searching a 2D array with labeled break: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PARENT_LOOP: for (int i = 0; i &lt; list.length; i++) {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for (int j = 0; j &lt; list[i].length; j++) {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if (list[i][j] == searchValue) {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posX = i; posY = j;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break PARENT_LOOP;  // exits BOTH loops!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}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}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Without label → exits only inner loop → finds last occurrence in last matching row.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Without break → finds last occurrence in entire array.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Applicable to: while, do-while, for, for-each, switch.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break with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int[][] list = {{1,13},{5,2},{2,2}};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searchValue = 2;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posX = -1, posY = -1;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PARENT_LOOP: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(int i = 0; i &lt; list.length; i++)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for (int j = 0; j &lt; list[i].length; j++)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if (list[i][j] == searchValue)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    posX = i;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    posY = j;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    break PARENT_LOOP; // exits both loops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Output: Value 2 found at: (1,1)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Without label: break exits inner loop only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→ finds last value in last matching row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Output: Value 2 found at: (2,0)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Without break: finds last occurrence overall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Output: Value 2 found at: (2,1)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The continue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continue without label: skips the rest of the CURRENT iteration of the nearest loop.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continue with label: skips the rest of the current iteration of the labeled loop.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After continue, execution goes to the loop's boolean check (not the start).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continue vs break: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break:    exits the loop entirely.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continue: only skips the current iteration; loop continues.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continue CLEANING in nested loop: skips to next iteration of outer loop.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→ skips entire inner loop for that outer iteration.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continue (no label) in nested loop: only skips current inner iteration.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Applicable to: while, do-while, for, for-each (NOT switch).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continue with and without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continue with label — skips inner loop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CLEANING: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(char s='a'; s&lt;='d'; s++)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for (int l = 1; l &lt;= 3; l++)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if (s=='b' || l==2)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    continue CLEANING; // jump to outer loop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System.out.println("Cleaning: "+s+","+l);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Prints: a,1  c,1  d,1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continue without label — skips inner iteration only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for (char s='a'; s&lt;='d'; s++)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for (int l = 1; l &lt;= 3; l++)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if (s=='b' || l==2)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    continue; // jump to next inner iteration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System.out.println("Cleaning: "+s+","+l);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Prints: a,1 a,3  c,1 c,3  d,1 d,3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The return Statement &amp; Unreachable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return can be used as an alternative to labeled break.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Extracting loop logic into a separate method + using return makes code cleaner.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Unreachable code: any statement IMMEDIATELY after break, continue, or return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in the same block will NOT compile.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while (x &lt; 10) {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break;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x++;  // DOES NOT COMPILE — unreachable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}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The compiler checks for unreachable code regardless of whether the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break/continue/return is actually reachable at runtime.</a:t>
            </a:r>
          </a:p>
          <a:p>
            <a:pPr/>
            <a:r>
              <a:rPr sz="1300" b="0">
                <a:solidFill>
                  <a:srgbClr val="FFFFFF"/>
                </a:solidFill>
                <a:latin typeface="Segoe UI"/>
              </a:rPr>
              <a:t/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► Summary — what each statement supports: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break:    while, do-while, for, for-each, switch (with optional label)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continue: while, do-while, for, for-each (NOT switch; with optional label)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yield:    switch expressions only</a:t>
            </a:r>
          </a:p>
          <a:p>
            <a:pPr lvl="1"/>
            <a:r>
              <a:rPr sz="1200" b="0">
                <a:solidFill>
                  <a:srgbClr val="CCCCCC"/>
                </a:solidFill>
                <a:latin typeface="Segoe UI"/>
              </a:rPr>
              <a:t>• when:     switch with pattern matching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777240"/>
            <a:ext cx="6126480" cy="5760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8046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return &amp; Unreachable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70432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return instead of labeled break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private static int[] searchForValue(int[][] list, int v)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for (int i = 0; i &lt; list.length; i++)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for (int j = 0; j &lt; list[i].length; j++)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    if (list[i][j] == v)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        return new int[]{i, j};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return null;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Unreachable code —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int x = 0;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while (x &lt; 10)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x++;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if (x &gt; 100)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break;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x++;  //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// continue also causes unreachable code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while (x &gt; 2)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if (x++ &gt; 2) {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continue;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    System.out.print(x); // DOES NOT COMPILE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    }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ABF7B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05840" cy="7772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  <a:latin typeface="Segoe UI"/>
              </a:rPr>
              <a:t>EXAM TRAP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161288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Any code IMMEDIATELY after break, continue, or return in the same block
   DOES NOT COMPILE — unreachable code error.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continue is NOT valid inside a switch statement — only break and yield work in switch.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break without a label exits the NEAREST enclosing loop or switch — not necessarily
   the outer loop.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continue without a label skips to the condition check of the NEAREST loop,
   not the outer loop.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Labeled break and continue can target outer loops — the label must be on the outer loop.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FD166"/>
                </a:solidFill>
                <a:latin typeface="Segoe UI"/>
              </a:rPr>
              <a:t>🔴  Nested loops with labels and break/continue are a COMMON exam topic — trace carefully!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📝  Exam-Style 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Q1: What does the following print?
    CLEANING: for (char s = 'a'; s &lt;= 'b'; s++) {
        for (int l = 1; l &lt;= 2; l++) {
            if (s == 'b') continue CLEANING;
            System.out.print(s + "" + l + " ");
        }
    }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a1 a2 — when s='b', continue CLEANING skips to next outer iteration (exits).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Q2: Does the following compile?
    while (true) {
        break;
        System.out.println("done");
    }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No — code after 'break' is unreachable. DOES NOT COMPILE.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Q3: What is the difference between break and continue?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06D6A0"/>
                </a:solidFill>
                <a:latin typeface="Segoe UI"/>
              </a:rPr>
              <a:t>    ✅  break exits the loop entirely; continue skips the current iteration and continues to the next.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166"/>
                </a:solidFill>
                <a:latin typeface="Segoe UI"/>
              </a:rPr>
              <a:t>Section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Chapter 3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Segoe UI"/>
              </a:rPr>
              <a:t>Key rules, exam essentials &amp; branching reference table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Chapter 3 — Key Rules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if / else: Condition must be boolean. else pairs with nearest if. Braces optional but recommended.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Pattern Matching (if): instanceof + variable; flow scoping; &amp;&amp; keeps var in scope; || does NOT; null → always false.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switch variable types: int/Integer, byte, short, char, String, enum, Object (with PM). NOT: boolean, long, float, double.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switch case values: Must be compile-time constants (literals, final+literal-init vars, enum values).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switch fall-through: Colon syntax falls through without break. Arrow syntax (-&gt;) does NOT fall through.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switch expression: Must be exhaustive. Returns consistent types. yield for case blocks. Semicolons required.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Pattern Matching (switch): Order matters. More specific first. case null → PM rules. Guards use 'when' keyword.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while vs do-while: while checks condition first (may run 0 times). do-while runs body first (min 1 time).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for loop scope: Init-block variables scoped to loop. All init vars must be same type. for(;;) is infinite.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for-each requirements: Right side: array or Iterable. Left type must match element type. Map not supported directly.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break / continue: break exits loop/switch. continue skips iteration. Both support labels for nested loops.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Segoe UI"/>
              </a:rPr>
              <a:t>► Unreachable code: Any statement immediately after break/continue/return in same block → DOES NOT COMPILE.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Control Statement Features — Quick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2011680" cy="658368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987552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  <a:latin typeface="Segoe UI"/>
              </a:rPr>
              <a:t>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822960"/>
            <a:ext cx="1645920" cy="658368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98755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  <a:latin typeface="Segoe UI"/>
              </a:rPr>
              <a:t>Labels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822960"/>
            <a:ext cx="1645920" cy="658368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98755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  <a:latin typeface="Segoe UI"/>
              </a:rPr>
              <a:t>break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822960"/>
            <a:ext cx="1645920" cy="658368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98755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  <a:latin typeface="Segoe UI"/>
              </a:rPr>
              <a:t>continue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822960"/>
            <a:ext cx="1645920" cy="658368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98755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  <a:latin typeface="Segoe UI"/>
              </a:rPr>
              <a:t>yield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822960"/>
            <a:ext cx="1645920" cy="658368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98755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  <a:latin typeface="Segoe UI"/>
              </a:rPr>
              <a:t>when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481328"/>
            <a:ext cx="20116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645920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while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481328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" y="16459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481328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16459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1481328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25312" y="16459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1481328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2" y="16459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76F"/>
                </a:solidFill>
                <a:latin typeface="Segoe U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481328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16459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76F"/>
                </a:solidFill>
                <a:latin typeface="Segoe UI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139696"/>
            <a:ext cx="201168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230428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do/while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6459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3472" y="23042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2139696"/>
            <a:ext cx="16459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9392" y="23042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2139696"/>
            <a:ext cx="16459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25312" y="23042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0" y="2139696"/>
            <a:ext cx="16459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71232" y="23042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76F"/>
                </a:solidFill>
                <a:latin typeface="Segoe UI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2139696"/>
            <a:ext cx="16459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17152" y="23042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76F"/>
                </a:solidFill>
                <a:latin typeface="Segoe UI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2798064"/>
            <a:ext cx="20116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2962656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2798064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33472" y="2962656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2798064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9392" y="2962656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2798064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25312" y="2962656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2798064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71232" y="2962656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76F"/>
                </a:solidFill>
                <a:latin typeface="Segoe UI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2798064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2962656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76F"/>
                </a:solidFill>
                <a:latin typeface="Segoe UI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3456432"/>
            <a:ext cx="201168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" y="3621024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switch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3456432"/>
            <a:ext cx="16459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33472" y="3621024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3456432"/>
            <a:ext cx="16459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79392" y="3621024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2160" y="3456432"/>
            <a:ext cx="16459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25312" y="3621024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76F"/>
                </a:solidFill>
                <a:latin typeface="Segoe UI"/>
              </a:rPr>
              <a:t>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80" y="3456432"/>
            <a:ext cx="16459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71232" y="3621024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3456432"/>
            <a:ext cx="16459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17152" y="3621024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  <a:latin typeface="Segoe UI"/>
              </a:rPr>
              <a:t>Yes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3657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Note: break and continue can optionally use labels to target outer loops. yield is only for switch expressions. when is only for pattern matching with switch.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Exam Essentials — Chapter 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161288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Understand if/else: condition must be boolean; indentation is irrelevant; braces define blocks.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Pattern matching (if): flow scoping with instanceof; &amp;&amp; keeps var in scope; null always false.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switch types: no boolean/long/float/double; case values must be compile-time constants.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switch fall-through (colon syntax) vs no-fall-through (arrow syntax); break placement.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switch expression: exhaustive; consistent return types; yield in case blocks; semicolons.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Pattern matching (switch): order matters; case null implies PM rules; when for guards.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while: condition checked first (0+ times); do-while body runs first (1+ times).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for loop: init vars scoped to loop; same type required; for(;;) = infinite; scope pitfalls.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for-each: right side = array/Iterable; Map not directly supported; type compatibility.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break exits loop/switch; continue skips iteration — labels allow targeting outer loops.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Unreachable code after break/continue/return in same block → DOES NOT COMPILE.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Segoe UI"/>
              </a:rPr>
              <a:t>✦ Nested loops with labels and branching are COMMON exam questions — trace carefully!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